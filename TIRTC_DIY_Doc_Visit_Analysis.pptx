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5"/>
  </p:notesMasterIdLst>
  <p:handoutMasterIdLst>
    <p:handoutMasterId r:id="rId16"/>
  </p:handoutMasterIdLst>
  <p:sldIdLst>
    <p:sldId id="338" r:id="rId5"/>
    <p:sldId id="327" r:id="rId6"/>
    <p:sldId id="315" r:id="rId7"/>
    <p:sldId id="329" r:id="rId8"/>
    <p:sldId id="302" r:id="rId9"/>
    <p:sldId id="339" r:id="rId10"/>
    <p:sldId id="304" r:id="rId11"/>
    <p:sldId id="340" r:id="rId12"/>
    <p:sldId id="341" r:id="rId13"/>
    <p:sldId id="34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4" autoAdjust="0"/>
    <p:restoredTop sz="95033" autoAdjust="0"/>
  </p:normalViewPr>
  <p:slideViewPr>
    <p:cSldViewPr snapToGrid="0">
      <p:cViewPr varScale="1">
        <p:scale>
          <a:sx n="53" d="100"/>
          <a:sy n="53" d="100"/>
        </p:scale>
        <p:origin x="1248"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25-Oct-26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25-Oct-26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25-Oct-26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25-Oct-26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25-Oct-26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25-Oct-26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25-Oct-26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pPr algn="r"/>
            <a:r>
              <a:rPr lang="en-IN" b="0" dirty="0">
                <a:solidFill>
                  <a:schemeClr val="tx1"/>
                </a:solidFill>
              </a:rPr>
              <a:t> </a:t>
            </a:r>
          </a:p>
        </p:txBody>
      </p:sp>
      <p:sp>
        <p:nvSpPr>
          <p:cNvPr id="33" name="TextBox 32"/>
          <p:cNvSpPr txBox="1"/>
          <p:nvPr/>
        </p:nvSpPr>
        <p:spPr>
          <a:xfrm>
            <a:off x="844064" y="2514600"/>
            <a:ext cx="7306707" cy="707886"/>
          </a:xfrm>
          <a:prstGeom prst="rect">
            <a:avLst/>
          </a:prstGeom>
          <a:noFill/>
        </p:spPr>
        <p:txBody>
          <a:bodyPr wrap="square">
            <a:spAutoFit/>
          </a:bodyPr>
          <a:lstStyle/>
          <a:p>
            <a:pPr algn="l">
              <a:defRPr sz="3000" b="1">
                <a:solidFill>
                  <a:srgbClr val="000000"/>
                </a:solidFill>
                <a:latin typeface="Arial"/>
              </a:defRPr>
            </a:pPr>
            <a:r>
              <a:rPr lang="en-US" sz="4000" dirty="0"/>
              <a:t>TIRTC </a:t>
            </a:r>
            <a:r>
              <a:rPr sz="4000" dirty="0"/>
              <a:t>Doctor Visit Analysis</a:t>
            </a:r>
          </a:p>
        </p:txBody>
      </p:sp>
      <p:sp>
        <p:nvSpPr>
          <p:cNvPr id="35" name="TextBox 34"/>
          <p:cNvSpPr txBox="1"/>
          <p:nvPr/>
        </p:nvSpPr>
        <p:spPr>
          <a:xfrm>
            <a:off x="917636" y="3223260"/>
            <a:ext cx="5178364" cy="523220"/>
          </a:xfrm>
          <a:prstGeom prst="rect">
            <a:avLst/>
          </a:prstGeom>
          <a:noFill/>
        </p:spPr>
        <p:txBody>
          <a:bodyPr wrap="square">
            <a:spAutoFit/>
          </a:bodyPr>
          <a:lstStyle/>
          <a:p>
            <a:pPr algn="l">
              <a:defRPr sz="1700" b="0">
                <a:solidFill>
                  <a:srgbClr val="000000"/>
                </a:solidFill>
                <a:latin typeface="Arial"/>
              </a:defRPr>
            </a:pPr>
            <a:r>
              <a:rPr lang="en-US" sz="2800" b="1" dirty="0"/>
              <a:t>Muhammad Samad Qureshi</a:t>
            </a:r>
            <a:endParaRPr sz="2800" b="1" dirty="0"/>
          </a:p>
        </p:txBody>
      </p:sp>
      <p:sp>
        <p:nvSpPr>
          <p:cNvPr id="5" name="Title 4">
            <a:extLst>
              <a:ext uri="{FF2B5EF4-FFF2-40B4-BE49-F238E27FC236}">
                <a16:creationId xmlns:a16="http://schemas.microsoft.com/office/drawing/2014/main" id="{6634DEFA-627A-BAEF-82AE-1157A69E65BA}"/>
              </a:ext>
            </a:extLst>
          </p:cNvPr>
          <p:cNvSpPr>
            <a:spLocks noGrp="1"/>
          </p:cNvSpPr>
          <p:nvPr>
            <p:ph type="title"/>
          </p:nvPr>
        </p:nvSpPr>
        <p:spPr>
          <a:xfrm>
            <a:off x="7454899" y="733097"/>
            <a:ext cx="1116031" cy="465082"/>
          </a:xfrm>
        </p:spPr>
        <p:txBody>
          <a:bodyPr>
            <a:normAutofit fontScale="90000"/>
          </a:bodyPr>
          <a:lstStyle/>
          <a:p>
            <a:r>
              <a:rPr lang="en-US" dirty="0"/>
              <a:t> </a:t>
            </a:r>
          </a:p>
        </p:txBody>
      </p:sp>
      <p:sp>
        <p:nvSpPr>
          <p:cNvPr id="6" name="TextBox 5">
            <a:extLst>
              <a:ext uri="{FF2B5EF4-FFF2-40B4-BE49-F238E27FC236}">
                <a16:creationId xmlns:a16="http://schemas.microsoft.com/office/drawing/2014/main" id="{05671690-2406-2AE4-8B74-83E982F9EE13}"/>
              </a:ext>
            </a:extLst>
          </p:cNvPr>
          <p:cNvSpPr txBox="1"/>
          <p:nvPr/>
        </p:nvSpPr>
        <p:spPr>
          <a:xfrm>
            <a:off x="917636" y="3772667"/>
            <a:ext cx="5896303" cy="461665"/>
          </a:xfrm>
          <a:prstGeom prst="rect">
            <a:avLst/>
          </a:prstGeom>
          <a:noFill/>
        </p:spPr>
        <p:txBody>
          <a:bodyPr wrap="square" rtlCol="0">
            <a:spAutoFit/>
          </a:bodyPr>
          <a:lstStyle/>
          <a:p>
            <a:r>
              <a:rPr lang="en-US" sz="2400" dirty="0"/>
              <a:t>STU6836ea3347cd01748429363</a:t>
            </a:r>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sp>
        <p:nvSpPr>
          <p:cNvPr id="18" name="TextBox 17"/>
          <p:cNvSpPr txBox="1"/>
          <p:nvPr/>
        </p:nvSpPr>
        <p:spPr>
          <a:xfrm>
            <a:off x="754602" y="1340528"/>
            <a:ext cx="7132320" cy="548640"/>
          </a:xfrm>
          <a:prstGeom prst="rect">
            <a:avLst/>
          </a:prstGeom>
          <a:noFill/>
        </p:spPr>
        <p:txBody>
          <a:bodyPr wrap="square">
            <a:spAutoFit/>
          </a:bodyPr>
          <a:lstStyle/>
          <a:p>
            <a:pPr algn="l">
              <a:defRPr sz="2200" b="1">
                <a:solidFill>
                  <a:srgbClr val="000000"/>
                </a:solidFill>
                <a:latin typeface="Arial"/>
              </a:defRPr>
            </a:pPr>
            <a:r>
              <a:rPr dirty="0"/>
              <a:t>Understanding doctor visit patterns from healthcare data</a:t>
            </a:r>
          </a:p>
        </p:txBody>
      </p:sp>
      <p:sp>
        <p:nvSpPr>
          <p:cNvPr id="19" name="TextBox 18"/>
          <p:cNvSpPr txBox="1"/>
          <p:nvPr/>
        </p:nvSpPr>
        <p:spPr>
          <a:xfrm>
            <a:off x="1406728" y="2009785"/>
            <a:ext cx="6858000" cy="2286000"/>
          </a:xfrm>
          <a:prstGeom prst="rect">
            <a:avLst/>
          </a:prstGeom>
          <a:noFill/>
        </p:spPr>
        <p:txBody>
          <a:bodyPr wrap="square">
            <a:spAutoFit/>
          </a:bodyPr>
          <a:lstStyle/>
          <a:p>
            <a:pPr>
              <a:spcAft>
                <a:spcPts val="1000"/>
              </a:spcAft>
              <a:defRPr sz="1700">
                <a:solidFill>
                  <a:srgbClr val="191919"/>
                </a:solidFill>
                <a:latin typeface="Arial"/>
              </a:defRPr>
            </a:pPr>
            <a:r>
              <a:rPr dirty="0"/>
              <a:t>• Healthcare records contain demographic, income, illness, health and visit-related information.</a:t>
            </a:r>
          </a:p>
          <a:p>
            <a:pPr>
              <a:spcAft>
                <a:spcPts val="1000"/>
              </a:spcAft>
              <a:defRPr sz="1700">
                <a:solidFill>
                  <a:srgbClr val="191919"/>
                </a:solidFill>
                <a:latin typeface="Arial"/>
              </a:defRPr>
            </a:pPr>
            <a:r>
              <a:rPr dirty="0"/>
              <a:t>• The project explores which patterns are visible in doctor visit behavior.</a:t>
            </a:r>
          </a:p>
          <a:p>
            <a:pPr>
              <a:spcAft>
                <a:spcPts val="1000"/>
              </a:spcAft>
              <a:defRPr sz="1700">
                <a:solidFill>
                  <a:srgbClr val="191919"/>
                </a:solidFill>
                <a:latin typeface="Arial"/>
              </a:defRPr>
            </a:pPr>
            <a:r>
              <a:rPr dirty="0"/>
              <a:t>• The analysis uses Python to clean, validate, summarize and visualize the dataset.</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97337" y="761806"/>
            <a:ext cx="6276109" cy="830997"/>
          </a:xfrm>
        </p:spPr>
        <p:txBody>
          <a:bodyPr>
            <a:normAutofit fontScale="90000"/>
          </a:bodyPr>
          <a:lstStyle/>
          <a:p>
            <a:r>
              <a:rPr lang="en-GB" dirty="0"/>
              <a:t>Project Description</a:t>
            </a:r>
            <a:br>
              <a:rPr lang="en-GB" dirty="0"/>
            </a:br>
            <a:endParaRPr lang="en-IN" dirty="0"/>
          </a:p>
        </p:txBody>
      </p:sp>
      <p:sp>
        <p:nvSpPr>
          <p:cNvPr id="10" name="TextBox 9"/>
          <p:cNvSpPr txBox="1"/>
          <p:nvPr/>
        </p:nvSpPr>
        <p:spPr>
          <a:xfrm>
            <a:off x="777240" y="956101"/>
            <a:ext cx="7315200" cy="646331"/>
          </a:xfrm>
          <a:prstGeom prst="rect">
            <a:avLst/>
          </a:prstGeom>
          <a:noFill/>
        </p:spPr>
        <p:txBody>
          <a:bodyPr wrap="square">
            <a:spAutoFit/>
          </a:bodyPr>
          <a:lstStyle/>
          <a:p>
            <a:pPr algn="l">
              <a:defRPr sz="2700" b="1">
                <a:solidFill>
                  <a:srgbClr val="000000"/>
                </a:solidFill>
                <a:latin typeface="Arial"/>
              </a:defRPr>
            </a:pPr>
            <a:r>
              <a:rPr lang="en-US" sz="3600" dirty="0"/>
              <a:t> </a:t>
            </a:r>
            <a:endParaRPr sz="3600" dirty="0"/>
          </a:p>
        </p:txBody>
      </p:sp>
      <p:sp>
        <p:nvSpPr>
          <p:cNvPr id="11" name="TextBox 10"/>
          <p:cNvSpPr txBox="1"/>
          <p:nvPr/>
        </p:nvSpPr>
        <p:spPr>
          <a:xfrm>
            <a:off x="597337" y="1905506"/>
            <a:ext cx="8019919" cy="3046988"/>
          </a:xfrm>
          <a:prstGeom prst="rect">
            <a:avLst/>
          </a:prstGeom>
          <a:noFill/>
        </p:spPr>
        <p:txBody>
          <a:bodyPr wrap="square">
            <a:spAutoFit/>
          </a:bodyPr>
          <a:lstStyle/>
          <a:p>
            <a:pPr algn="l">
              <a:defRPr sz="1700" b="0">
                <a:solidFill>
                  <a:srgbClr val="000000"/>
                </a:solidFill>
                <a:latin typeface="Arial"/>
              </a:defRPr>
            </a:pPr>
            <a:r>
              <a:rPr sz="2400" dirty="0"/>
              <a:t>The project analyzes a healthcare dataset containing 5,190 records and 13 variables. Python and pandas were used to inspect the data, validate data quality and perform exploratory analysis. The notebook examines doctor visits along with age, income, illness, reduced activity, health and insurance-related variables. Visualizations and descriptive statistics are used to identify patterns and relationships.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914400" y="751839"/>
            <a:ext cx="10046070" cy="802641"/>
          </a:xfrm>
        </p:spPr>
        <p:txBody>
          <a:bodyPr>
            <a:noAutofit/>
          </a:bodyPr>
          <a:lstStyle/>
          <a:p>
            <a:r>
              <a:rPr lang="en-US" sz="4300" dirty="0"/>
              <a:t>WHO ARE THE END USERS?</a:t>
            </a:r>
            <a:endParaRPr lang="en-IN" sz="4300" dirty="0"/>
          </a:p>
        </p:txBody>
      </p:sp>
      <p:sp>
        <p:nvSpPr>
          <p:cNvPr id="18" name="TextBox 17"/>
          <p:cNvSpPr txBox="1"/>
          <p:nvPr/>
        </p:nvSpPr>
        <p:spPr>
          <a:xfrm>
            <a:off x="1376855" y="1940910"/>
            <a:ext cx="8412480" cy="2631490"/>
          </a:xfrm>
          <a:prstGeom prst="rect">
            <a:avLst/>
          </a:prstGeom>
          <a:noFill/>
        </p:spPr>
        <p:txBody>
          <a:bodyPr wrap="square">
            <a:spAutoFit/>
          </a:bodyPr>
          <a:lstStyle/>
          <a:p>
            <a:pPr>
              <a:spcAft>
                <a:spcPts val="1000"/>
              </a:spcAft>
              <a:defRPr sz="1800">
                <a:solidFill>
                  <a:srgbClr val="191919"/>
                </a:solidFill>
                <a:latin typeface="Arial"/>
              </a:defRPr>
            </a:pPr>
            <a:r>
              <a:rPr sz="2000" dirty="0"/>
              <a:t>• Healthcare analysts — to explore patient and visit patterns.</a:t>
            </a:r>
          </a:p>
          <a:p>
            <a:pPr>
              <a:spcAft>
                <a:spcPts val="1000"/>
              </a:spcAft>
              <a:defRPr sz="1800">
                <a:solidFill>
                  <a:srgbClr val="191919"/>
                </a:solidFill>
                <a:latin typeface="Arial"/>
              </a:defRPr>
            </a:pPr>
            <a:r>
              <a:rPr sz="2000" dirty="0"/>
              <a:t>• Healthcare administrators — to understand demand and utilization patterns.</a:t>
            </a:r>
          </a:p>
          <a:p>
            <a:pPr>
              <a:spcAft>
                <a:spcPts val="1000"/>
              </a:spcAft>
              <a:defRPr sz="1800">
                <a:solidFill>
                  <a:srgbClr val="191919"/>
                </a:solidFill>
                <a:latin typeface="Arial"/>
              </a:defRPr>
            </a:pPr>
            <a:r>
              <a:rPr sz="2000" dirty="0"/>
              <a:t>• Data/BI teams — as a starting point for deeper reporting or predictive analysis.</a:t>
            </a:r>
          </a:p>
          <a:p>
            <a:pPr>
              <a:spcAft>
                <a:spcPts val="1000"/>
              </a:spcAft>
              <a:defRPr sz="1800">
                <a:solidFill>
                  <a:srgbClr val="191919"/>
                </a:solidFill>
                <a:latin typeface="Arial"/>
              </a:defRPr>
            </a:pPr>
            <a:r>
              <a:rPr sz="2000" dirty="0"/>
              <a:t>• Students and learners — to practice real-world exploratory data analysis with Python.</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8" name="TextBox 17"/>
          <p:cNvSpPr txBox="1"/>
          <p:nvPr/>
        </p:nvSpPr>
        <p:spPr>
          <a:xfrm>
            <a:off x="1087820" y="1561230"/>
            <a:ext cx="7498079" cy="3318857"/>
          </a:xfrm>
          <a:prstGeom prst="rect">
            <a:avLst/>
          </a:prstGeom>
          <a:noFill/>
        </p:spPr>
        <p:txBody>
          <a:bodyPr wrap="square">
            <a:spAutoFit/>
          </a:bodyPr>
          <a:lstStyle/>
          <a:p>
            <a:pPr>
              <a:spcAft>
                <a:spcPts val="1000"/>
              </a:spcAft>
              <a:defRPr sz="1800">
                <a:solidFill>
                  <a:srgbClr val="191919"/>
                </a:solidFill>
                <a:latin typeface="Arial"/>
              </a:defRPr>
            </a:pPr>
            <a:r>
              <a:rPr sz="2400" dirty="0"/>
              <a:t>• Python — primary programming language</a:t>
            </a:r>
          </a:p>
          <a:p>
            <a:pPr>
              <a:spcAft>
                <a:spcPts val="1000"/>
              </a:spcAft>
              <a:defRPr sz="1800">
                <a:solidFill>
                  <a:srgbClr val="191919"/>
                </a:solidFill>
                <a:latin typeface="Arial"/>
              </a:defRPr>
            </a:pPr>
            <a:r>
              <a:rPr sz="2400" dirty="0"/>
              <a:t>• Pandas — data loading, inspection, cleaning and </a:t>
            </a:r>
            <a:r>
              <a:rPr lang="en-US" sz="2400" dirty="0"/>
              <a:t>     </a:t>
            </a:r>
            <a:r>
              <a:rPr sz="2400" dirty="0"/>
              <a:t>analysis</a:t>
            </a:r>
          </a:p>
          <a:p>
            <a:pPr>
              <a:spcAft>
                <a:spcPts val="1000"/>
              </a:spcAft>
              <a:defRPr sz="1800">
                <a:solidFill>
                  <a:srgbClr val="191919"/>
                </a:solidFill>
                <a:latin typeface="Arial"/>
              </a:defRPr>
            </a:pPr>
            <a:r>
              <a:rPr sz="2400" dirty="0"/>
              <a:t>• NumPy — numerical operations</a:t>
            </a:r>
          </a:p>
          <a:p>
            <a:pPr>
              <a:spcAft>
                <a:spcPts val="1000"/>
              </a:spcAft>
              <a:defRPr sz="1800">
                <a:solidFill>
                  <a:srgbClr val="191919"/>
                </a:solidFill>
                <a:latin typeface="Arial"/>
              </a:defRPr>
            </a:pPr>
            <a:r>
              <a:rPr sz="2400" dirty="0"/>
              <a:t>• Matplotlib — data visualization</a:t>
            </a:r>
          </a:p>
          <a:p>
            <a:pPr>
              <a:spcAft>
                <a:spcPts val="1000"/>
              </a:spcAft>
              <a:defRPr sz="1800">
                <a:solidFill>
                  <a:srgbClr val="191919"/>
                </a:solidFill>
                <a:latin typeface="Arial"/>
              </a:defRPr>
            </a:pPr>
            <a:r>
              <a:rPr sz="2400" dirty="0"/>
              <a:t>• Seaborn — statistical visualizations and heatmaps</a:t>
            </a:r>
          </a:p>
          <a:p>
            <a:pPr>
              <a:spcAft>
                <a:spcPts val="1000"/>
              </a:spcAft>
              <a:defRPr sz="1800">
                <a:solidFill>
                  <a:srgbClr val="191919"/>
                </a:solidFill>
                <a:latin typeface="Arial"/>
              </a:defRPr>
            </a:pPr>
            <a:r>
              <a:rPr sz="2400" dirty="0"/>
              <a:t>• </a:t>
            </a:r>
            <a:r>
              <a:rPr sz="2400" dirty="0" err="1"/>
              <a:t>Jupyter</a:t>
            </a:r>
            <a:r>
              <a:rPr sz="2400" dirty="0"/>
              <a:t> Notebook — analysis environment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3" name="Picture 32" descr="12_1.png"/>
          <p:cNvPicPr>
            <a:picLocks noChangeAspect="1"/>
          </p:cNvPicPr>
          <p:nvPr/>
        </p:nvPicPr>
        <p:blipFill>
          <a:blip r:embed="rId2"/>
          <a:stretch>
            <a:fillRect/>
          </a:stretch>
        </p:blipFill>
        <p:spPr>
          <a:xfrm>
            <a:off x="675957" y="1201586"/>
            <a:ext cx="9729284" cy="4584359"/>
          </a:xfrm>
          <a:prstGeom prst="rect">
            <a:avLst/>
          </a:prstGeom>
        </p:spPr>
      </p:pic>
      <p:sp>
        <p:nvSpPr>
          <p:cNvPr id="36" name="TextBox 35"/>
          <p:cNvSpPr txBox="1"/>
          <p:nvPr/>
        </p:nvSpPr>
        <p:spPr>
          <a:xfrm>
            <a:off x="3093164" y="5883691"/>
            <a:ext cx="4572000" cy="411480"/>
          </a:xfrm>
          <a:prstGeom prst="rect">
            <a:avLst/>
          </a:prstGeom>
          <a:noFill/>
        </p:spPr>
        <p:txBody>
          <a:bodyPr wrap="square">
            <a:spAutoFit/>
          </a:bodyPr>
          <a:lstStyle/>
          <a:p>
            <a:pPr algn="l">
              <a:defRPr sz="1700" b="1">
                <a:solidFill>
                  <a:srgbClr val="000000"/>
                </a:solidFill>
                <a:latin typeface="Arial"/>
              </a:defRPr>
            </a:pPr>
            <a:r>
              <a:rPr dirty="0"/>
              <a:t>4,141 records have 0 visits (79.8%)</a:t>
            </a: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556676" y="407326"/>
            <a:ext cx="11340000" cy="700114"/>
          </a:xfrm>
          <a:prstGeom prst="rect">
            <a:avLst/>
          </a:prstGeom>
        </p:spPr>
        <p:txBody>
          <a:bodyPr anchor="ctr">
            <a:normAutofit fontScale="90000"/>
          </a:bodyPr>
          <a:lstStyle/>
          <a:p>
            <a:pPr algn="ctr"/>
            <a:r>
              <a:rPr lang="en-GB" sz="4800" b="1" dirty="0">
                <a:solidFill>
                  <a:prstClr val="black"/>
                </a:solidFill>
              </a:rPr>
              <a:t>RESULTS </a:t>
            </a:r>
            <a:endParaRPr lang="en-US" sz="48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pic>
        <p:nvPicPr>
          <p:cNvPr id="34" name="Picture 33" descr="23_1.png"/>
          <p:cNvPicPr>
            <a:picLocks noChangeAspect="1"/>
          </p:cNvPicPr>
          <p:nvPr/>
        </p:nvPicPr>
        <p:blipFill>
          <a:blip r:embed="rId2"/>
          <a:stretch>
            <a:fillRect/>
          </a:stretch>
        </p:blipFill>
        <p:spPr>
          <a:xfrm>
            <a:off x="725215" y="1257310"/>
            <a:ext cx="8560674" cy="4343380"/>
          </a:xfrm>
          <a:prstGeom prst="rect">
            <a:avLst/>
          </a:prstGeom>
        </p:spPr>
      </p:pic>
      <p:sp>
        <p:nvSpPr>
          <p:cNvPr id="4" name="TextBox 3">
            <a:extLst>
              <a:ext uri="{FF2B5EF4-FFF2-40B4-BE49-F238E27FC236}">
                <a16:creationId xmlns:a16="http://schemas.microsoft.com/office/drawing/2014/main" id="{7F0426E7-47AB-5871-EE42-8015E3597FB3}"/>
              </a:ext>
            </a:extLst>
          </p:cNvPr>
          <p:cNvSpPr txBox="1"/>
          <p:nvPr/>
        </p:nvSpPr>
        <p:spPr>
          <a:xfrm>
            <a:off x="2589486" y="5750560"/>
            <a:ext cx="7890640"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000000"/>
                </a:solidFill>
                <a:latin typeface="Arial"/>
              </a:defRPr>
            </a:pPr>
            <a:r>
              <a:rPr kumimoji="0" lang="en-US" sz="1600" b="1" i="0" u="none" strike="noStrike" kern="1200" cap="none" spc="0" normalizeH="0" baseline="0" noProof="0" dirty="0">
                <a:ln>
                  <a:noFill/>
                </a:ln>
                <a:solidFill>
                  <a:srgbClr val="000000"/>
                </a:solidFill>
                <a:effectLst/>
                <a:uLnTx/>
                <a:uFillTx/>
                <a:latin typeface="Arial"/>
                <a:ea typeface="+mn-ea"/>
                <a:cs typeface="+mn-cs"/>
              </a:rPr>
              <a:t>Age–income correlation: approximately −0.27</a:t>
            </a:r>
          </a:p>
        </p:txBody>
      </p:sp>
    </p:spTree>
    <p:extLst>
      <p:ext uri="{BB962C8B-B14F-4D97-AF65-F5344CB8AC3E}">
        <p14:creationId xmlns:p14="http://schemas.microsoft.com/office/powerpoint/2010/main" val="3401748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540910" y="616169"/>
            <a:ext cx="11340000" cy="700114"/>
          </a:xfrm>
          <a:prstGeom prst="rect">
            <a:avLst/>
          </a:prstGeom>
        </p:spPr>
        <p:txBody>
          <a:bodyPr anchor="ctr">
            <a:normAutofit fontScale="90000"/>
          </a:bodyPr>
          <a:lstStyle/>
          <a:p>
            <a:pPr algn="ctr"/>
            <a:r>
              <a:rPr kumimoji="0" lang="en-GB" sz="4800" b="1" i="0" u="none" strike="noStrike" kern="1200" cap="none" spc="0" normalizeH="0" baseline="0" noProof="0" dirty="0">
                <a:ln>
                  <a:noFill/>
                </a:ln>
                <a:solidFill>
                  <a:prstClr val="black"/>
                </a:solidFill>
                <a:effectLst/>
                <a:uLnTx/>
                <a:uFillTx/>
                <a:latin typeface="Trebuchet MS" panose="020B0603020202020204"/>
                <a:ea typeface="+mj-ea"/>
                <a:cs typeface="+mj-cs"/>
              </a:rPr>
              <a:t>RESULTS </a:t>
            </a:r>
            <a:endParaRPr lang="en-US" sz="48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pic>
        <p:nvPicPr>
          <p:cNvPr id="35" name="Picture 34" descr="26_0.png"/>
          <p:cNvPicPr>
            <a:picLocks noChangeAspect="1"/>
          </p:cNvPicPr>
          <p:nvPr/>
        </p:nvPicPr>
        <p:blipFill>
          <a:blip r:embed="rId2"/>
          <a:stretch>
            <a:fillRect/>
          </a:stretch>
        </p:blipFill>
        <p:spPr>
          <a:xfrm>
            <a:off x="768676" y="1316283"/>
            <a:ext cx="9755307" cy="4434277"/>
          </a:xfrm>
          <a:prstGeom prst="rect">
            <a:avLst/>
          </a:prstGeom>
        </p:spPr>
      </p:pic>
      <p:sp>
        <p:nvSpPr>
          <p:cNvPr id="6" name="TextBox 5">
            <a:extLst>
              <a:ext uri="{FF2B5EF4-FFF2-40B4-BE49-F238E27FC236}">
                <a16:creationId xmlns:a16="http://schemas.microsoft.com/office/drawing/2014/main" id="{05EFA18D-0E2B-D281-4FC6-31FC7EEB6B61}"/>
              </a:ext>
            </a:extLst>
          </p:cNvPr>
          <p:cNvSpPr txBox="1"/>
          <p:nvPr/>
        </p:nvSpPr>
        <p:spPr>
          <a:xfrm>
            <a:off x="2296511" y="5918666"/>
            <a:ext cx="7882758"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500" b="0">
                <a:solidFill>
                  <a:srgbClr val="000000"/>
                </a:solidFill>
                <a:latin typeface="Arial"/>
              </a:defRPr>
            </a:pPr>
            <a:r>
              <a:rPr kumimoji="0" lang="en-US" sz="1600" b="1" i="0" u="none" strike="noStrike" kern="1200" cap="none" spc="0" normalizeH="0" baseline="0" noProof="0" dirty="0">
                <a:ln>
                  <a:noFill/>
                </a:ln>
                <a:solidFill>
                  <a:srgbClr val="000000"/>
                </a:solidFill>
                <a:effectLst/>
                <a:uLnTx/>
                <a:uFillTx/>
                <a:latin typeface="Arial"/>
                <a:ea typeface="+mn-ea"/>
                <a:cs typeface="+mn-cs"/>
              </a:rPr>
              <a:t>Data quality checks: 0 missing values and 0 duplicate rows</a:t>
            </a:r>
          </a:p>
        </p:txBody>
      </p:sp>
    </p:spTree>
    <p:extLst>
      <p:ext uri="{BB962C8B-B14F-4D97-AF65-F5344CB8AC3E}">
        <p14:creationId xmlns:p14="http://schemas.microsoft.com/office/powerpoint/2010/main" val="3394546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675699" y="1107440"/>
            <a:ext cx="11340000" cy="700114"/>
          </a:xfrm>
          <a:prstGeom prst="rect">
            <a:avLst/>
          </a:prstGeom>
        </p:spPr>
        <p:txBody>
          <a:bodyPr anchor="ctr">
            <a:normAutofit fontScale="90000"/>
          </a:bodyPr>
          <a:lstStyle/>
          <a:p>
            <a:pPr algn="ctr"/>
            <a:r>
              <a:rPr lang="en-US" sz="4800" b="1" dirty="0">
                <a:solidFill>
                  <a:schemeClr val="tx1"/>
                </a:solidFill>
              </a:rPr>
              <a:t>GITHUB LINK</a:t>
            </a:r>
            <a:br>
              <a:rPr lang="en-US" sz="4800" b="1" dirty="0">
                <a:solidFill>
                  <a:schemeClr val="tx1"/>
                </a:solidFill>
              </a:rPr>
            </a:br>
            <a:endParaRPr lang="en-US" sz="48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581561" y="4641925"/>
            <a:ext cx="2139695" cy="1108635"/>
          </a:xfrm>
        </p:spPr>
        <p:txBody>
          <a:bodyPr>
            <a:normAutofit/>
          </a:bodyPr>
          <a:lstStyle/>
          <a:p>
            <a:r>
              <a:rPr lang="en-US" dirty="0"/>
              <a:t>.</a:t>
            </a:r>
          </a:p>
        </p:txBody>
      </p:sp>
      <p:sp>
        <p:nvSpPr>
          <p:cNvPr id="5" name="TextBox 4">
            <a:extLst>
              <a:ext uri="{FF2B5EF4-FFF2-40B4-BE49-F238E27FC236}">
                <a16:creationId xmlns:a16="http://schemas.microsoft.com/office/drawing/2014/main" id="{44004B01-1605-CA98-AEAA-9454677B03D8}"/>
              </a:ext>
            </a:extLst>
          </p:cNvPr>
          <p:cNvSpPr txBox="1"/>
          <p:nvPr/>
        </p:nvSpPr>
        <p:spPr>
          <a:xfrm>
            <a:off x="1335024" y="2216075"/>
            <a:ext cx="7772400" cy="369332"/>
          </a:xfrm>
          <a:prstGeom prst="rect">
            <a:avLst/>
          </a:prstGeom>
          <a:noFill/>
        </p:spPr>
        <p:txBody>
          <a:bodyPr wrap="square" rtlCol="0">
            <a:spAutoFit/>
          </a:bodyPr>
          <a:lstStyle/>
          <a:p>
            <a:r>
              <a:rPr lang="en-US" dirty="0"/>
              <a:t>https://github.com/mmdsamadqureshi/Doc_Visit_Analysis_using_Python</a:t>
            </a:r>
          </a:p>
        </p:txBody>
      </p:sp>
    </p:spTree>
    <p:extLst>
      <p:ext uri="{BB962C8B-B14F-4D97-AF65-F5344CB8AC3E}">
        <p14:creationId xmlns:p14="http://schemas.microsoft.com/office/powerpoint/2010/main" val="1013064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61683" y="2476500"/>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Tree>
    <p:extLst>
      <p:ext uri="{BB962C8B-B14F-4D97-AF65-F5344CB8AC3E}">
        <p14:creationId xmlns:p14="http://schemas.microsoft.com/office/powerpoint/2010/main" val="80983456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571</TotalTime>
  <Words>297</Words>
  <Application>Microsoft Office PowerPoint</Application>
  <PresentationFormat>Widescreen</PresentationFormat>
  <Paragraphs>40</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Trebuchet MS</vt:lpstr>
      <vt:lpstr>Wingdings</vt:lpstr>
      <vt:lpstr>Wingdings 3</vt:lpstr>
      <vt:lpstr>Facet</vt:lpstr>
      <vt:lpstr> </vt:lpstr>
      <vt:lpstr>PROBLEM  STATEMENT</vt:lpstr>
      <vt:lpstr>Project Description </vt:lpstr>
      <vt:lpstr>WHO ARE THE END USERS?</vt:lpstr>
      <vt:lpstr>Technology Used</vt:lpstr>
      <vt:lpstr>RESULTS </vt:lpstr>
      <vt:lpstr>RESULTS </vt:lpstr>
      <vt:lpstr>RESULTS </vt:lpstr>
      <vt:lpstr>GITHUB LINK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Muhammad Samad Qureshi</cp:lastModifiedBy>
  <cp:revision>77</cp:revision>
  <dcterms:created xsi:type="dcterms:W3CDTF">2021-07-11T13:13:15Z</dcterms:created>
  <dcterms:modified xsi:type="dcterms:W3CDTF">2026-10-25T11:52:54Z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